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E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8B-4962-B16A-00FA733B9570}"/>
              </c:ext>
            </c:extLst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8B-4962-B16A-00FA733B9570}"/>
              </c:ext>
            </c:extLst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8B-4962-B16A-00FA733B9570}"/>
              </c:ext>
            </c:extLst>
          </c:dPt>
          <c:dPt>
            <c:idx val="3"/>
            <c:bubble3D val="0"/>
            <c:spPr>
              <a:solidFill>
                <a:srgbClr val="262C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8B-4962-B16A-00FA733B9570}"/>
              </c:ext>
            </c:extLst>
          </c:dPt>
          <c:dPt>
            <c:idx val="4"/>
            <c:bubble3D val="0"/>
            <c:spPr>
              <a:solidFill>
                <a:srgbClr val="8B9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8B-4962-B16A-00FA733B957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8B-4962-B16A-00FA733B957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8B-4962-B16A-00FA733B957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8B-4962-B16A-00FA733B957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8B-4962-B16A-00FA733B957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8B-4962-B16A-00FA733B957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Personal Safety</c:v>
                </c:pt>
                <c:pt idx="1">
                  <c:v>Route Trust</c:v>
                </c:pt>
                <c:pt idx="2">
                  <c:v>Emergency Response</c:v>
                </c:pt>
                <c:pt idx="3">
                  <c:v>Urban Planning</c:v>
                </c:pt>
                <c:pt idx="4">
                  <c:v>Community 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8B-4962-B16A-00FA733B95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52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092731" y="177416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9947" y="1466491"/>
            <a:ext cx="8320427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Intelligent Safe-Route Navigation System for Women &amp; Vulnerable Groups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Viksit Bharat 2047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RouteGuard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Problem  &amp;  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– An AI Assistant for Safer, Smarter Navigation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947672"/>
            <a:ext cx="109728" cy="109728"/>
          </a:xfrm>
          <a:prstGeom prst="ellipse">
            <a:avLst/>
          </a:prstGeom>
          <a:solidFill>
            <a:srgbClr val="FF5E6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4708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Safety Data: 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records, streetlight &amp; CCTV coverage, and crowd density all live in disconnected datasets — no single view of how safe a street really 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09728" cy="109728"/>
          </a:xfrm>
          <a:prstGeom prst="ellipse">
            <a:avLst/>
          </a:prstGeom>
          <a:solidFill>
            <a:srgbClr val="FF5E6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7523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Time-Blind Routing: 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map apps optimize only for time or distance — a dark, isolated shortcut can rank above a longer, well-lit street.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758184"/>
            <a:ext cx="109728" cy="109728"/>
          </a:xfrm>
          <a:prstGeom prst="ellipse">
            <a:avLst/>
          </a:prstGeom>
          <a:solidFill>
            <a:srgbClr val="FF5E6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Preventive: 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Panic-button apps help after an incident starts, not before a risky route is even chosen.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109728" cy="109728"/>
          </a:xfrm>
          <a:prstGeom prst="ellipse">
            <a:avLst/>
          </a:prstGeom>
          <a:solidFill>
            <a:srgbClr val="FF5E6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562856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Personalization: 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woman walking at 11 PM and a group walking at 5 PM get identical directions today.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5568696"/>
            <a:ext cx="109728" cy="109728"/>
          </a:xfrm>
          <a:prstGeom prst="ellipse">
            <a:avLst/>
          </a:prstGeom>
          <a:solidFill>
            <a:srgbClr val="FF5E6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46811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Dependence: 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safety tools assume always-on data, and fail exactly where coverage is weakest.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1B1F3B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1947672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847088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Safety Graph: </a:t>
            </a:r>
            <a:r>
              <a:rPr lang="en-US" sz="115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road segment scored on crime proximity, lighting, CCTV coverage, amenity access and live crowd density.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2852928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7523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ML-Predicted Safety Score: </a:t>
            </a:r>
            <a:r>
              <a:rPr lang="en-US" sz="115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regression model estimates a 0–100 safety score per segment, refreshed as new data arrives.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758184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65760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Routing: </a:t>
            </a:r>
            <a:r>
              <a:rPr lang="en-US" sz="115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travel time against safety score to surface a ‘slightly longer, far safer’ alternative route.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4663440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562856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Profile Aware: </a:t>
            </a:r>
            <a:r>
              <a:rPr lang="en-US" sz="115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adapts automatically for night hours, solo travel, or vulnerable groups such as elders or children.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5568696"/>
            <a:ext cx="109728" cy="1097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546811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+ Live Share: </a:t>
            </a:r>
            <a:r>
              <a:rPr lang="en-US" sz="115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to trusted contacts and the nearest police station, with live tracking along the chosen path.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 |  Intelligent Safe-Route Navigation for Women &amp; Vulnerable Groups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Safety-Scoring Engine  +  Live Streamlit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577840" cy="5212080"/>
          </a:xfrm>
          <a:prstGeom prst="roundRect">
            <a:avLst>
              <a:gd name="adj" fmla="val 12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4218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990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Safety Model Pipeline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1792" y="19202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Data Ingestion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records, verified amenities (police / hospitals / pharmacies) and ambient sensors (streetlight lux, CCTV %) per city zone.</a:t>
            </a:r>
            <a:endParaRPr lang="en-US" sz="930" dirty="0"/>
          </a:p>
        </p:txBody>
      </p:sp>
      <p:sp>
        <p:nvSpPr>
          <p:cNvPr id="9" name="Text 6"/>
          <p:cNvSpPr/>
          <p:nvPr/>
        </p:nvSpPr>
        <p:spPr>
          <a:xfrm>
            <a:off x="621792" y="24688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Risk-Priority Feature Engineering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Distance-to-nearest-amenity/crime per segment feeds a composite Risk Priority Score — crime severity, low lighting, weak CCTV, isolation.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621792" y="301752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Safety Scoring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(25%), lighting (20%), CCTV (15%), amenity access (15%), crowd (10%), connectivity (10%), road type (5%) → 0–100 safety_score.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621792" y="356616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 Model — Random Forest Regressor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200-tree model trained on road + safety features to predict scores for unseen segments.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21792" y="411480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Safety Graph (OSMnx + NetworkX)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scores attached to the city's OSM road network — the live graph the router runs on.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621792" y="46634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Adaptive Route Engine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distance vs safety on a sliding scale set by the user's detour tolerance (0–25%).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621792" y="521208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SOS Emergency Routing — </a:t>
            </a:r>
            <a:r>
              <a:rPr lang="en-US" sz="9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re-targets the destination to the nearest verified police station / hospital reachable from the user.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621792" y="5943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463040" y="5943600"/>
            <a:ext cx="452628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pandas/NumPy  •  scikit-learn  •  OSMnx  •  NetworkX  •  GeoPandas  •  Streamlit  •  Folium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6172200" y="1188720"/>
            <a:ext cx="5577840" cy="5212080"/>
          </a:xfrm>
          <a:prstGeom prst="roundRect">
            <a:avLst>
              <a:gd name="adj" fmla="val 1228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73368" y="1371600"/>
            <a:ext cx="457200" cy="457200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19" name="Image 1" descr="icons/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1421892"/>
            <a:ext cx="356616" cy="3566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13990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Live Prototype (Streamlit)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373368" y="1920240"/>
            <a:ext cx="5166360" cy="208483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</p:spPr>
      </p:sp>
      <p:pic>
        <p:nvPicPr>
          <p:cNvPr id="22" name="Image 2" descr="img/screenshot_rout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965960"/>
            <a:ext cx="5074920" cy="199339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73368" y="40233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 Acceptable Route — rejects the pure-shortest path for a higher average safety score within the detour limit.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373368" y="4572000"/>
            <a:ext cx="516636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pic>
        <p:nvPicPr>
          <p:cNvPr id="25" name="Image 3" descr="img/screenshot_sos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617720"/>
            <a:ext cx="5074920" cy="1325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73368" y="605332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7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Emergency Mode — one tap re-routes to the nearest verified police station, no manual search needed.</a:t>
            </a:r>
            <a:endParaRPr lang="en-US" sz="870" dirty="0"/>
          </a:p>
        </p:txBody>
      </p:sp>
      <p:sp>
        <p:nvSpPr>
          <p:cNvPr id="27" name="Text 2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 |  Intelligent Safe-Route Navigation for Women &amp; Vulnerable Groups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Risk / Vulnerability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928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 ML approach — Random Forest regression on spatial safety features is well studied in urban-safety analytics.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data availability — municipal crime data, OSM road networks and lighting/CCTV audits already exist for most Indian cities.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7685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Lightweight serving — the safety graph and trained model run comfortably inside a single Streamlit process; routing is sub-second.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141732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Incremental rollout — city-by-city launch (e.g. Mumbai pilot) instead of needing nationwide data on day one.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Offline-safe fallback — the last-synced safety graph is cached on-device so routing still works with weak connectivity.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Ifs — Strategies to Overcome Challenges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2148840" cy="2788920"/>
          </a:xfrm>
          <a:prstGeom prst="roundRect">
            <a:avLst>
              <a:gd name="adj" fmla="val 2979"/>
            </a:avLst>
          </a:prstGeom>
          <a:solidFill>
            <a:srgbClr val="1B1F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9012" y="3566160"/>
            <a:ext cx="585216" cy="585216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13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86" y="3630534"/>
            <a:ext cx="456468" cy="4564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4297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goes stale?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94360" y="49377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Community-reported incidents plus periodic municipal refresh keep scores current.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2715768" y="3337560"/>
            <a:ext cx="2148840" cy="2788920"/>
          </a:xfrm>
          <a:prstGeom prst="roundRect">
            <a:avLst>
              <a:gd name="adj" fmla="val 2979"/>
            </a:avLst>
          </a:prstGeom>
          <a:solidFill>
            <a:srgbClr val="262C52"/>
          </a:solidFill>
          <a:ln/>
        </p:spPr>
      </p:sp>
      <p:sp>
        <p:nvSpPr>
          <p:cNvPr id="17" name="Shape 14"/>
          <p:cNvSpPr/>
          <p:nvPr/>
        </p:nvSpPr>
        <p:spPr>
          <a:xfrm>
            <a:off x="3497580" y="3566160"/>
            <a:ext cx="585216" cy="585216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18" name="Image 1" descr="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954" y="3630534"/>
            <a:ext cx="456468" cy="4564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52928" y="4297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misjudges a new road?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52928" y="49377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Road-type &amp; connectivity features let the model generalize; nearest-neighbor fallback for edge cases.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4974336" y="3337560"/>
            <a:ext cx="2148840" cy="2788920"/>
          </a:xfrm>
          <a:prstGeom prst="roundRect">
            <a:avLst>
              <a:gd name="adj" fmla="val 2979"/>
            </a:avLst>
          </a:prstGeom>
          <a:solidFill>
            <a:srgbClr val="1B1F3B"/>
          </a:solidFill>
          <a:ln/>
        </p:spPr>
      </p:sp>
      <p:sp>
        <p:nvSpPr>
          <p:cNvPr id="22" name="Shape 18"/>
          <p:cNvSpPr/>
          <p:nvPr/>
        </p:nvSpPr>
        <p:spPr>
          <a:xfrm>
            <a:off x="5756148" y="3566160"/>
            <a:ext cx="585216" cy="585216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23" name="Image 2" descr="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522" y="3630534"/>
            <a:ext cx="456468" cy="4564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11496" y="4297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ignores the safer route?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111496" y="49377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shown transparently with a clear safety delta — the choice always stays with the user.</a:t>
            </a:r>
            <a:endParaRPr lang="en-US" sz="930" dirty="0"/>
          </a:p>
        </p:txBody>
      </p:sp>
      <p:sp>
        <p:nvSpPr>
          <p:cNvPr id="26" name="Shape 21"/>
          <p:cNvSpPr/>
          <p:nvPr/>
        </p:nvSpPr>
        <p:spPr>
          <a:xfrm>
            <a:off x="7232904" y="3337560"/>
            <a:ext cx="2148840" cy="2788920"/>
          </a:xfrm>
          <a:prstGeom prst="roundRect">
            <a:avLst>
              <a:gd name="adj" fmla="val 2979"/>
            </a:avLst>
          </a:prstGeom>
          <a:solidFill>
            <a:srgbClr val="262C52"/>
          </a:solidFill>
          <a:ln/>
        </p:spPr>
      </p:sp>
      <p:sp>
        <p:nvSpPr>
          <p:cNvPr id="27" name="Shape 22"/>
          <p:cNvSpPr/>
          <p:nvPr/>
        </p:nvSpPr>
        <p:spPr>
          <a:xfrm>
            <a:off x="8014716" y="3566160"/>
            <a:ext cx="585216" cy="585216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28" name="Image 3" descr="icons/wifi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9090" y="3630534"/>
            <a:ext cx="456468" cy="4564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70064" y="4297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triggers with no network?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370064" y="49377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fallback alert reaches trusted contacts the moment data connectivity drops.</a:t>
            </a:r>
            <a:endParaRPr lang="en-US" sz="930" dirty="0"/>
          </a:p>
        </p:txBody>
      </p:sp>
      <p:sp>
        <p:nvSpPr>
          <p:cNvPr id="31" name="Shape 25"/>
          <p:cNvSpPr/>
          <p:nvPr/>
        </p:nvSpPr>
        <p:spPr>
          <a:xfrm>
            <a:off x="9491472" y="3337560"/>
            <a:ext cx="2148840" cy="2788920"/>
          </a:xfrm>
          <a:prstGeom prst="roundRect">
            <a:avLst>
              <a:gd name="adj" fmla="val 2979"/>
            </a:avLst>
          </a:prstGeom>
          <a:solidFill>
            <a:srgbClr val="1B1F3B"/>
          </a:solidFill>
          <a:ln/>
        </p:spPr>
      </p:sp>
      <p:sp>
        <p:nvSpPr>
          <p:cNvPr id="32" name="Shape 26"/>
          <p:cNvSpPr/>
          <p:nvPr/>
        </p:nvSpPr>
        <p:spPr>
          <a:xfrm>
            <a:off x="10273284" y="3566160"/>
            <a:ext cx="585216" cy="585216"/>
          </a:xfrm>
          <a:prstGeom prst="ellipse">
            <a:avLst/>
          </a:prstGeom>
          <a:solidFill>
            <a:srgbClr val="FF5E62"/>
          </a:solidFill>
          <a:ln/>
        </p:spPr>
      </p:sp>
      <p:pic>
        <p:nvPicPr>
          <p:cNvPr id="33" name="Image 4" descr="icons/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7658" y="3630534"/>
            <a:ext cx="456468" cy="4564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628632" y="429768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sense of security?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9628632" y="493776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messaging is explicit: scores are probabilistic guidance, never a safety guarantee.</a:t>
            </a:r>
            <a:endParaRPr lang="en-US" sz="930" dirty="0"/>
          </a:p>
        </p:txBody>
      </p:sp>
      <p:sp>
        <p:nvSpPr>
          <p:cNvPr id="36" name="Text 2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 |  Intelligent Safe-Route Navigation for Women &amp; Vulnerable Groups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12064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078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Users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Commutes: </a:t>
            </a:r>
            <a:r>
              <a:rPr lang="en-US" sz="10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chosen with a quantified safety trade-off, not guesswork.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Help: </a:t>
            </a:r>
            <a:r>
              <a:rPr lang="en-US" sz="10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+ live share cuts response time during an incident.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685800" y="24505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Move Freely: </a:t>
            </a:r>
            <a:r>
              <a:rPr lang="en-US" sz="10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independent travel at more hours of the day.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85800" y="293522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2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Voice: </a:t>
            </a:r>
            <a:r>
              <a:rPr lang="en-US" sz="103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crowd-reported hazard helps the next traveler.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5120640" cy="256032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730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Operational Benefit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133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Urban Planning: </a:t>
            </a:r>
            <a:r>
              <a:rPr lang="en-US" sz="10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Low-safety zones highlight where cities should add lighting or CCTV.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Response: </a:t>
            </a:r>
            <a:r>
              <a:rPr lang="en-US" sz="10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geolocation feeds directly to the nearest police control room.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85800" y="510235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Across Cities: </a:t>
            </a:r>
            <a:r>
              <a:rPr lang="en-US" sz="10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 pipeline, new local data — city-agnostic by design.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85800" y="55869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Public-Private Synergy: </a:t>
            </a:r>
            <a:r>
              <a:rPr lang="en-US" sz="103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graph can plug into existing government safety-app initiatives.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760720" y="960120"/>
            <a:ext cx="5989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Impact Split Across Focus Areas</a:t>
            </a:r>
            <a:endParaRPr lang="en-US" sz="12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89320" y="1417320"/>
          <a:ext cx="37490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4343400"/>
            <a:ext cx="598932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44348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Gains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989320" y="4754880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Positions the city as a leader in citizen-centric public-safety AI.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5157216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Aggregated, anonymized safety insights support smarter street-lighting and patrol budgets.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5559552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pipeline scales from one ward to an entire metro region with no redesign.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 |  Intelligent Safe-Route Navigation for Women &amp; Vulnerable Groups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7040880" cy="306324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Our Proposed Solution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Existing Conventional Solutions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Routing Objective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Multi-factor, safety-weighted routing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Pure shortest-time / distance routing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Data Sources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Crime + lighting + CCTV + crowd density fused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Traffic data only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Personalization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Time-of-day &amp; traveler-profile aware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One-size-fits-all directions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Response Mechanism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Proactive route avoidance + one-tap SOS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Reactive panic button only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Adaptability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ML model updates as new city data arrives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Static, rule-based scoring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4243A"/>
                          </a:solidFill>
                        </a:rPr>
                        <a:t>Transparency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Shows the safety-vs-time trade-off to the user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4243A"/>
                          </a:solidFill>
                        </a:rPr>
                        <a:t>Routing rationale hidden from user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80960" y="868680"/>
            <a:ext cx="4069080" cy="5349240"/>
          </a:xfrm>
          <a:prstGeom prst="roundRect">
            <a:avLst>
              <a:gd name="adj" fmla="val 1573"/>
            </a:avLst>
          </a:prstGeom>
          <a:solidFill>
            <a:srgbClr val="1B1F3B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909560" y="9875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Dataset References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90956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OSMnx</a:t>
            </a:r>
            <a:endParaRPr lang="en-US" sz="1050" dirty="0"/>
          </a:p>
        </p:txBody>
      </p:sp>
      <p:sp>
        <p:nvSpPr>
          <p:cNvPr id="3" name="Text 4"/>
          <p:cNvSpPr/>
          <p:nvPr/>
        </p:nvSpPr>
        <p:spPr>
          <a:xfrm>
            <a:off x="7909560" y="1801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Road-network extraction &amp; graph routing library.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09560" y="20665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osmnx.readthedocs.io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09560" y="2276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NCRB – Crime in India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09560" y="2523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crime statistics used for the risk model.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09560" y="27889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ncrb.gov.in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09560" y="2999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Safetipin Urban Safety Audits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Streetlight, CCTV &amp; crowd-density audit methodology.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09560" y="35112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safetipin.com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909560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RandomForestRegressor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9560" y="39684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used for safety-score prediction.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09560" y="42336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909560" y="4443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09560" y="4690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powering multi-objective routing.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09560" y="49560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networkx.org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909560" y="5166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Women – Safe Cities Initiative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09560" y="54132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framework on safe public spaces for women.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09560" y="56784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unwomen.org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70408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3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4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" y="4645152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safety-scoring model and adaptive route engine are running end-to-end in a live Streamlit + Folium web app, including one-tap SOS routing to verified emergency facilities — demoed on a Mumbai pilot network.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5800" y="544068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5440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pipeline: functional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840480" y="544068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0" name="Text 27"/>
          <p:cNvSpPr/>
          <p:nvPr/>
        </p:nvSpPr>
        <p:spPr>
          <a:xfrm>
            <a:off x="3840480" y="5440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prototype: live demo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SafePath  |  Intelligent Safe-Route Navigation for Women &amp; Vulnerable Groups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52144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1256</Words>
  <Application>Microsoft Office PowerPoint</Application>
  <PresentationFormat>Widescreen</PresentationFormat>
  <Paragraphs>137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</vt:lpstr>
      <vt:lpstr>Garamond</vt:lpstr>
      <vt:lpstr>Times New Roman</vt:lpstr>
      <vt:lpstr>TradeGothic</vt:lpstr>
      <vt:lpstr>Office Theme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34 AIDS C ABHISHEK RAI</cp:lastModifiedBy>
  <cp:revision>2</cp:revision>
  <dcterms:created xsi:type="dcterms:W3CDTF">2026-08-16T16:12:11Z</dcterms:created>
  <dcterms:modified xsi:type="dcterms:W3CDTF">2026-08-19T09:09:16Z</dcterms:modified>
</cp:coreProperties>
</file>